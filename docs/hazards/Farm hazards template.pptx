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2" Type="http://schemas.openxmlformats.org/officeDocument/2006/relationships/slide" Target="slides/slide7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e69eec684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e69eec684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e69eec684e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e69eec684e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e69eec684e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e69eec684e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e69eec684e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e69eec684e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e69eec684e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e69eec684e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e69eec684e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e69eec684e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0" y="744575"/>
            <a:ext cx="8520600" cy="98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Farm hazards template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173307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2026 Autumn Farm Assessment</a:t>
            </a:r>
            <a:endParaRPr/>
          </a:p>
        </p:txBody>
      </p:sp>
      <p:sp>
        <p:nvSpPr>
          <p:cNvPr id="56" name="Google Shape;56;p13"/>
          <p:cNvSpPr txBox="1"/>
          <p:nvPr/>
        </p:nvSpPr>
        <p:spPr>
          <a:xfrm>
            <a:off x="564750" y="2730000"/>
            <a:ext cx="8014500" cy="13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2275">
                <a:solidFill>
                  <a:schemeClr val="dk1"/>
                </a:solidFill>
              </a:rPr>
              <a:t>Instructions: </a:t>
            </a:r>
            <a:endParaRPr i="1" sz="2275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i="1" lang="en" sz="2275">
                <a:solidFill>
                  <a:schemeClr val="dk1"/>
                </a:solidFill>
              </a:rPr>
              <a:t>Use this outline to build your presentation. Replace the bracketed text with your own research and images.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title"/>
          </p:nvPr>
        </p:nvSpPr>
        <p:spPr>
          <a:xfrm>
            <a:off x="311700" y="9377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1125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b="1" lang="en" sz="2450"/>
              <a:t>Slide 1: Title Slide</a:t>
            </a:r>
            <a:endParaRPr/>
          </a:p>
        </p:txBody>
      </p:sp>
      <p:sp>
        <p:nvSpPr>
          <p:cNvPr id="62" name="Google Shape;62;p14"/>
          <p:cNvSpPr txBox="1"/>
          <p:nvPr>
            <p:ph idx="1" type="body"/>
          </p:nvPr>
        </p:nvSpPr>
        <p:spPr>
          <a:xfrm>
            <a:off x="311700" y="1152475"/>
            <a:ext cx="9252600" cy="280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t/>
            </a:r>
            <a:endParaRPr b="1" sz="24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125"/>
              </a:spcBef>
              <a:spcAft>
                <a:spcPts val="0"/>
              </a:spcAft>
              <a:buNone/>
            </a:pPr>
            <a:r>
              <a:rPr b="1" lang="en" sz="2275">
                <a:solidFill>
                  <a:schemeClr val="dk1"/>
                </a:solidFill>
              </a:rPr>
              <a:t>Title:</a:t>
            </a:r>
            <a:r>
              <a:rPr lang="en" sz="2275">
                <a:solidFill>
                  <a:schemeClr val="dk1"/>
                </a:solidFill>
              </a:rPr>
              <a:t> Farm Safety Audit: [Insert Your Zone Name]</a:t>
            </a:r>
            <a:endParaRPr sz="2275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75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75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75">
                <a:solidFill>
                  <a:schemeClr val="dk1"/>
                </a:solidFill>
              </a:rPr>
              <a:t>Presented by:</a:t>
            </a:r>
            <a:r>
              <a:rPr lang="en" sz="2275">
                <a:solidFill>
                  <a:schemeClr val="dk1"/>
                </a:solidFill>
              </a:rPr>
              <a:t> [Student Names]</a:t>
            </a:r>
            <a:endParaRPr sz="2275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75">
                <a:solidFill>
                  <a:schemeClr val="dk1"/>
                </a:solidFill>
              </a:rPr>
              <a:t>[Insert a photo of your zone at the KVC farm]</a:t>
            </a:r>
            <a:endParaRPr sz="2275">
              <a:solidFill>
                <a:schemeClr val="dk1"/>
              </a:solidFill>
            </a:endParaRPr>
          </a:p>
          <a:p>
            <a:pPr indent="0" lvl="0" marL="3810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5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1125"/>
              </a:spcBef>
              <a:spcAft>
                <a:spcPts val="1125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450"/>
              <a:t>Slide 2: The Hazard Register</a:t>
            </a:r>
            <a:endParaRPr/>
          </a:p>
        </p:txBody>
      </p:sp>
      <p:sp>
        <p:nvSpPr>
          <p:cNvPr id="68" name="Google Shape;68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i="1" lang="en" sz="2275">
                <a:solidFill>
                  <a:schemeClr val="dk1"/>
                </a:solidFill>
              </a:rPr>
              <a:t>Create a table with the following columns:</a:t>
            </a:r>
            <a:endParaRPr i="1" sz="2275">
              <a:solidFill>
                <a:schemeClr val="dk1"/>
              </a:solidFill>
            </a:endParaRPr>
          </a:p>
          <a:p>
            <a:pPr indent="-373063" lvl="0" marL="3810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75"/>
              <a:buChar char="●"/>
            </a:pPr>
            <a:r>
              <a:rPr b="1" lang="en" sz="2275">
                <a:solidFill>
                  <a:schemeClr val="dk1"/>
                </a:solidFill>
              </a:rPr>
              <a:t>Hazard:</a:t>
            </a:r>
            <a:r>
              <a:rPr lang="en" sz="2275">
                <a:solidFill>
                  <a:schemeClr val="dk1"/>
                </a:solidFill>
              </a:rPr>
              <a:t> (General, Zone-Specific, and Bonus Tool)</a:t>
            </a:r>
            <a:endParaRPr sz="2275">
              <a:solidFill>
                <a:schemeClr val="dk1"/>
              </a:solidFill>
            </a:endParaRPr>
          </a:p>
          <a:p>
            <a:pPr indent="-373063" lvl="0" marL="3810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75"/>
              <a:buChar char="●"/>
            </a:pPr>
            <a:r>
              <a:rPr b="1" lang="en" sz="2275">
                <a:solidFill>
                  <a:schemeClr val="dk1"/>
                </a:solidFill>
              </a:rPr>
              <a:t>Harm:</a:t>
            </a:r>
            <a:r>
              <a:rPr lang="en" sz="2275">
                <a:solidFill>
                  <a:schemeClr val="dk1"/>
                </a:solidFill>
              </a:rPr>
              <a:t> (What could happen?)</a:t>
            </a:r>
            <a:endParaRPr sz="2275">
              <a:solidFill>
                <a:schemeClr val="dk1"/>
              </a:solidFill>
            </a:endParaRPr>
          </a:p>
          <a:p>
            <a:pPr indent="-373063" lvl="0" marL="3810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75"/>
              <a:buChar char="●"/>
            </a:pPr>
            <a:r>
              <a:rPr b="1" lang="en" sz="2275">
                <a:solidFill>
                  <a:schemeClr val="dk1"/>
                </a:solidFill>
              </a:rPr>
              <a:t>Risk Level:</a:t>
            </a:r>
            <a:r>
              <a:rPr lang="en" sz="2275">
                <a:solidFill>
                  <a:schemeClr val="dk1"/>
                </a:solidFill>
              </a:rPr>
              <a:t> (1-5)</a:t>
            </a:r>
            <a:endParaRPr sz="2275">
              <a:solidFill>
                <a:schemeClr val="dk1"/>
              </a:solidFill>
            </a:endParaRPr>
          </a:p>
          <a:p>
            <a:pPr indent="-373063" lvl="0" marL="3810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75"/>
              <a:buChar char="●"/>
            </a:pPr>
            <a:r>
              <a:rPr b="1" lang="en" sz="2275">
                <a:solidFill>
                  <a:schemeClr val="dk1"/>
                </a:solidFill>
              </a:rPr>
              <a:t>Control:</a:t>
            </a:r>
            <a:r>
              <a:rPr lang="en" sz="2275">
                <a:solidFill>
                  <a:schemeClr val="dk1"/>
                </a:solidFill>
              </a:rPr>
              <a:t> (How do we Eliminate or Minimise this?)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1125"/>
              </a:spcBef>
              <a:spcAft>
                <a:spcPts val="1125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450"/>
              <a:t>Slide 3: Tool Expert Deep Dive</a:t>
            </a:r>
            <a:endParaRPr/>
          </a:p>
        </p:txBody>
      </p:sp>
      <p:sp>
        <p:nvSpPr>
          <p:cNvPr id="74" name="Google Shape;74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16"/>
          <p:cNvSpPr txBox="1"/>
          <p:nvPr/>
        </p:nvSpPr>
        <p:spPr>
          <a:xfrm>
            <a:off x="1018175" y="1429800"/>
            <a:ext cx="9498300" cy="262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75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125"/>
              </a:spcBef>
              <a:spcAft>
                <a:spcPts val="0"/>
              </a:spcAft>
              <a:buNone/>
            </a:pPr>
            <a:r>
              <a:t/>
            </a:r>
            <a:endParaRPr b="1" sz="24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125"/>
              </a:spcBef>
              <a:spcAft>
                <a:spcPts val="0"/>
              </a:spcAft>
              <a:buNone/>
            </a:pPr>
            <a:r>
              <a:rPr b="1" lang="en" sz="2275">
                <a:solidFill>
                  <a:schemeClr val="dk1"/>
                </a:solidFill>
              </a:rPr>
              <a:t>The Tool:</a:t>
            </a:r>
            <a:r>
              <a:rPr lang="en" sz="2275">
                <a:solidFill>
                  <a:schemeClr val="dk1"/>
                </a:solidFill>
              </a:rPr>
              <a:t> [Insert Name and Photo of Tool]</a:t>
            </a:r>
            <a:endParaRPr sz="2275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75">
                <a:solidFill>
                  <a:schemeClr val="dk1"/>
                </a:solidFill>
              </a:rPr>
              <a:t>Safety Checklist:</a:t>
            </a:r>
            <a:r>
              <a:rPr lang="en" sz="2275">
                <a:solidFill>
                  <a:schemeClr val="dk1"/>
                </a:solidFill>
              </a:rPr>
              <a:t> (3-5 points on how to use it safely)</a:t>
            </a:r>
            <a:endParaRPr sz="2275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75">
                <a:solidFill>
                  <a:schemeClr val="dk1"/>
                </a:solidFill>
              </a:rPr>
              <a:t>Maintenance:</a:t>
            </a:r>
            <a:r>
              <a:rPr lang="en" sz="2275">
                <a:solidFill>
                  <a:schemeClr val="dk1"/>
                </a:solidFill>
              </a:rPr>
              <a:t> (How do we clean or store it?)</a:t>
            </a:r>
            <a:endParaRPr sz="2275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5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 txBox="1"/>
          <p:nvPr>
            <p:ph type="title"/>
          </p:nvPr>
        </p:nvSpPr>
        <p:spPr>
          <a:xfrm>
            <a:off x="311700" y="191550"/>
            <a:ext cx="8520600" cy="113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1125"/>
              </a:spcBef>
              <a:spcAft>
                <a:spcPts val="1125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450"/>
              <a:t>Slide 4: Poster #1 - Warning Sign (each individual picks a hazard and makes a sign)</a:t>
            </a:r>
            <a:endParaRPr/>
          </a:p>
        </p:txBody>
      </p:sp>
      <p:sp>
        <p:nvSpPr>
          <p:cNvPr id="81" name="Google Shape;81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7"/>
          <p:cNvSpPr txBox="1"/>
          <p:nvPr/>
        </p:nvSpPr>
        <p:spPr>
          <a:xfrm>
            <a:off x="311700" y="1329750"/>
            <a:ext cx="7955400" cy="283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1125"/>
              </a:spcBef>
              <a:spcAft>
                <a:spcPts val="0"/>
              </a:spcAft>
              <a:buNone/>
            </a:pPr>
            <a:r>
              <a:t/>
            </a:r>
            <a:endParaRPr b="1" sz="24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125"/>
              </a:spcBef>
              <a:spcAft>
                <a:spcPts val="0"/>
              </a:spcAft>
              <a:buNone/>
            </a:pPr>
            <a:r>
              <a:rPr i="1" lang="en" sz="2275">
                <a:solidFill>
                  <a:schemeClr val="dk1"/>
                </a:solidFill>
              </a:rPr>
              <a:t>Display your high-contrast warning poster here. It should include:</a:t>
            </a:r>
            <a:endParaRPr i="1" sz="2275">
              <a:solidFill>
                <a:schemeClr val="dk1"/>
              </a:solidFill>
            </a:endParaRPr>
          </a:p>
          <a:p>
            <a:pPr indent="-373063" lvl="0" marL="3810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75"/>
              <a:buChar char="●"/>
            </a:pPr>
            <a:r>
              <a:rPr lang="en" sz="2275">
                <a:solidFill>
                  <a:schemeClr val="dk1"/>
                </a:solidFill>
              </a:rPr>
              <a:t>Bold heading (e.g., DANGER or CAUTION).</a:t>
            </a:r>
            <a:endParaRPr sz="2275">
              <a:solidFill>
                <a:schemeClr val="dk1"/>
              </a:solidFill>
            </a:endParaRPr>
          </a:p>
          <a:p>
            <a:pPr indent="-373063" lvl="0" marL="3810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75"/>
              <a:buChar char="●"/>
            </a:pPr>
            <a:r>
              <a:rPr lang="en" sz="2275">
                <a:solidFill>
                  <a:schemeClr val="dk1"/>
                </a:solidFill>
              </a:rPr>
              <a:t>Standard safety icons (Yellow triangles or Red circles).</a:t>
            </a:r>
            <a:endParaRPr sz="2275">
              <a:solidFill>
                <a:schemeClr val="dk1"/>
              </a:solidFill>
            </a:endParaRPr>
          </a:p>
          <a:p>
            <a:pPr indent="-373063" lvl="0" marL="3810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75"/>
              <a:buChar char="●"/>
            </a:pPr>
            <a:r>
              <a:rPr lang="en" sz="2275">
                <a:solidFill>
                  <a:schemeClr val="dk1"/>
                </a:solidFill>
              </a:rPr>
              <a:t>Minimal text.</a:t>
            </a:r>
            <a:endParaRPr sz="2275">
              <a:solidFill>
                <a:schemeClr val="dk1"/>
              </a:solidFill>
            </a:endParaRPr>
          </a:p>
          <a:p>
            <a:pPr indent="-373063" lvl="0" marL="3810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75"/>
              <a:buChar char="●"/>
            </a:pPr>
            <a:r>
              <a:t/>
            </a:r>
            <a:endParaRPr sz="245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8"/>
          <p:cNvSpPr txBox="1"/>
          <p:nvPr>
            <p:ph type="title"/>
          </p:nvPr>
        </p:nvSpPr>
        <p:spPr>
          <a:xfrm>
            <a:off x="311700" y="12531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Script and contribution to the farm safety video</a:t>
            </a:r>
            <a:endParaRPr/>
          </a:p>
        </p:txBody>
      </p:sp>
      <p:sp>
        <p:nvSpPr>
          <p:cNvPr id="88" name="Google Shape;88;p18"/>
          <p:cNvSpPr txBox="1"/>
          <p:nvPr>
            <p:ph idx="1" type="body"/>
          </p:nvPr>
        </p:nvSpPr>
        <p:spPr>
          <a:xfrm>
            <a:off x="311700" y="18258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As part of the overall assessment we are going to record a class safety </a:t>
            </a:r>
            <a:r>
              <a:rPr lang="en"/>
              <a:t>video for next term’s class. We are working on a map as a class of where we will go as we record this video.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For example: the idea is if gumboots are important than record the information about this somewhere on the farm that is muddy.</a:t>
            </a:r>
            <a:endParaRPr/>
          </a:p>
        </p:txBody>
      </p:sp>
      <p:sp>
        <p:nvSpPr>
          <p:cNvPr id="89" name="Google Shape;89;p18"/>
          <p:cNvSpPr txBox="1"/>
          <p:nvPr/>
        </p:nvSpPr>
        <p:spPr>
          <a:xfrm>
            <a:off x="164225" y="410575"/>
            <a:ext cx="7446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b="1" lang="en" sz="2450">
                <a:solidFill>
                  <a:schemeClr val="dk1"/>
                </a:solidFill>
              </a:rPr>
              <a:t>Slide 5: Instructional class video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1125"/>
              </a:spcBef>
              <a:spcAft>
                <a:spcPts val="1125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450"/>
              <a:t>Slide 6: Poster #2 - Instructional Guide</a:t>
            </a:r>
            <a:endParaRPr/>
          </a:p>
        </p:txBody>
      </p:sp>
      <p:sp>
        <p:nvSpPr>
          <p:cNvPr id="95" name="Google Shape;95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19"/>
          <p:cNvSpPr txBox="1"/>
          <p:nvPr/>
        </p:nvSpPr>
        <p:spPr>
          <a:xfrm>
            <a:off x="311700" y="1652075"/>
            <a:ext cx="7364100" cy="245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1125"/>
              </a:spcBef>
              <a:spcAft>
                <a:spcPts val="0"/>
              </a:spcAft>
              <a:buNone/>
            </a:pPr>
            <a:r>
              <a:t/>
            </a:r>
            <a:endParaRPr b="1" sz="24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125"/>
              </a:spcBef>
              <a:spcAft>
                <a:spcPts val="0"/>
              </a:spcAft>
              <a:buNone/>
            </a:pPr>
            <a:r>
              <a:rPr i="1" lang="en" sz="2275">
                <a:solidFill>
                  <a:schemeClr val="dk1"/>
                </a:solidFill>
              </a:rPr>
              <a:t>Display your "How-To" guide for your Bonus Tool. It should include:</a:t>
            </a:r>
            <a:endParaRPr i="1" sz="2275">
              <a:solidFill>
                <a:schemeClr val="dk1"/>
              </a:solidFill>
            </a:endParaRPr>
          </a:p>
          <a:p>
            <a:pPr indent="-373063" lvl="0" marL="3810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75"/>
              <a:buChar char="●"/>
            </a:pPr>
            <a:r>
              <a:rPr lang="en" sz="2275">
                <a:solidFill>
                  <a:schemeClr val="dk1"/>
                </a:solidFill>
              </a:rPr>
              <a:t>Step-by-step numbered instructions.</a:t>
            </a:r>
            <a:endParaRPr sz="2275">
              <a:solidFill>
                <a:schemeClr val="dk1"/>
              </a:solidFill>
            </a:endParaRPr>
          </a:p>
          <a:p>
            <a:pPr indent="-373063" lvl="0" marL="3810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75"/>
              <a:buChar char="●"/>
            </a:pPr>
            <a:r>
              <a:rPr lang="en" sz="2275">
                <a:solidFill>
                  <a:schemeClr val="dk1"/>
                </a:solidFill>
              </a:rPr>
              <a:t>Clear diagrams or photos of the tool in use.</a:t>
            </a:r>
            <a:endParaRPr sz="2275">
              <a:solidFill>
                <a:schemeClr val="dk1"/>
              </a:solidFill>
            </a:endParaRPr>
          </a:p>
          <a:p>
            <a:pPr indent="-373063" lvl="0" marL="3810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75"/>
              <a:buChar char="●"/>
            </a:pPr>
            <a:r>
              <a:rPr lang="en" sz="2275">
                <a:solidFill>
                  <a:schemeClr val="dk1"/>
                </a:solidFill>
              </a:rPr>
              <a:t>PPE requirements (e.g., "Must wear gloves").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